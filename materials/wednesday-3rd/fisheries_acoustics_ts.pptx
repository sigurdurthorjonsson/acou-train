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Fisheries Acoustics and importance of calibration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Teresa Silva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2025-12-03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clipboard-344851005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Fisheries Acoustics?</a:t>
            </a:r>
          </a:p>
          <a:p>
            <a:pPr lvl="0"/>
            <a:r>
              <a:rPr/>
              <a:t>Use of sound waves to detect and quantify fish populations and their habitats.</a:t>
            </a:r>
          </a:p>
          <a:p>
            <a:pPr lvl="0"/>
            <a:r>
              <a:rPr/>
              <a:t>Non-invasive method for monitoring aquatic ecosystems.</a:t>
            </a:r>
          </a:p>
          <a:p>
            <a:pPr lvl="1" indent="0" marL="342900">
              <a:buNone/>
            </a:pP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components of Fisheries Acoustics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Acoustic Equipment</a:t>
            </a:r>
          </a:p>
          <a:p>
            <a:pPr lvl="0"/>
            <a:r>
              <a:rPr/>
              <a:t>Echosounders: devices that emit sound pulses and receive echoes. </a:t>
            </a:r>
          </a:p>
          <a:p>
            <a:pPr lvl="0"/>
            <a:r>
              <a:rPr/>
              <a:t>Hydrophones: underwater microphones for detecting sound.</a:t>
            </a:r>
          </a:p>
          <a:p>
            <a:pPr lvl="0"/>
            <a:r>
              <a:rPr/>
              <a:t>Transducers: convert electrical signals into sound waves and vice versa.</a:t>
            </a:r>
          </a:p>
          <a:p>
            <a:pPr lvl="0"/>
            <a:r>
              <a:rPr/>
              <a:t>. 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Applications of Fisheries Acoustics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Fish Stock Assessment</a:t>
            </a:r>
            <a:r>
              <a:rPr/>
              <a:t> - Monitoring fish populations and biomass. - Estimating fish population sizes and distributions. - Informing sustainable fisheries management. </a:t>
            </a:r>
            <a:r>
              <a:rPr b="1"/>
              <a:t>Habitat Mapping</a:t>
            </a:r>
            <a:r>
              <a:rPr/>
              <a:t> - Identifying critical habitats for fish species. - Monitoring changes in habitat over time. -  </a:t>
            </a:r>
            <a:r>
              <a:rPr b="1"/>
              <a:t>Behavioral Studies</a:t>
            </a:r>
            <a:r>
              <a:rPr/>
              <a:t> - Observing fish behavior in response to environmental changes. - Understanding migration patterns and spawning activities. </a:t>
            </a:r>
            <a:r>
              <a:rPr b="1"/>
              <a:t>Data Collection</a:t>
            </a:r>
            <a:r>
              <a:rPr/>
              <a:t> - Deployment of acoustic equipment from boats or fixed platforms. - Collection of acoustic signals reflected from fish and other underwater objects.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Acoustic Principles in Fisheries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Sound Propagation in Water</a:t>
            </a:r>
          </a:p>
          <a:p>
            <a:pPr lvl="0"/>
            <a:r>
              <a:rPr/>
              <a:t>Sound travels faster in water than in air (approximately 1500 m/s).</a:t>
            </a:r>
          </a:p>
          <a:p>
            <a:pPr lvl="0"/>
            <a:r>
              <a:rPr/>
              <a:t>Influenced by temperature, salinity, and pressure.</a:t>
            </a:r>
          </a:p>
          <a:p>
            <a:pPr lvl="0"/>
            <a:r>
              <a:rPr/>
              <a:t>Attenuation: loss of sound energy as it travels through water.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Acoustic Backscatter</a:t>
            </a:r>
          </a:p>
          <a:p>
            <a:pPr lvl="0"/>
            <a:r>
              <a:rPr/>
              <a:t>Reflection of sound waves off fish and other objects.</a:t>
            </a:r>
          </a:p>
          <a:p>
            <a:pPr lvl="0"/>
            <a:r>
              <a:rPr/>
              <a:t>Backscatter strength depends on fish size, shape, and orientation.</a:t>
            </a:r>
          </a:p>
          <a:p>
            <a:pPr lvl="0"/>
            <a:r>
              <a:rPr/>
              <a:t>Used to estimate fish density and biomass.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Importance of Calibration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Ensures accuracy and reliability of acoustic measurements.</a:t>
            </a:r>
          </a:p>
          <a:p>
            <a:pPr lvl="0"/>
            <a:r>
              <a:rPr/>
              <a:t>Compensates for environmental factors affecting sound propagation.</a:t>
            </a:r>
          </a:p>
          <a:p>
            <a:pPr lvl="0"/>
            <a:r>
              <a:rPr/>
              <a:t>Essential for comparing data across different surveys and time periods.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Calibration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Standard Calibration Methods</a:t>
            </a:r>
          </a:p>
          <a:p>
            <a:pPr lvl="0"/>
            <a:r>
              <a:rPr/>
              <a:t>Use of reference targets (e.g., spheres) with known acoustic properties.</a:t>
            </a:r>
          </a:p>
          <a:p>
            <a:pPr lvl="0"/>
            <a:r>
              <a:rPr/>
              <a:t>Calibration of transducers to ensure consistent output.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In-situ Calibration</a:t>
            </a:r>
          </a:p>
          <a:p>
            <a:pPr lvl="0"/>
            <a:r>
              <a:rPr/>
              <a:t>Calibration performed in the field using known targets.</a:t>
            </a:r>
          </a:p>
          <a:p>
            <a:pPr lvl="0"/>
            <a:r>
              <a:rPr/>
              <a:t>Accounts for environmental conditions during data collection.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Post-Processing Calibration</a:t>
            </a:r>
          </a:p>
          <a:p>
            <a:pPr lvl="0"/>
            <a:r>
              <a:rPr/>
              <a:t>Adjusting data based on calibration results.</a:t>
            </a:r>
          </a:p>
          <a:p>
            <a:pPr lvl="0"/>
            <a:r>
              <a:rPr/>
              <a:t>Correcting for system drift and environmental changes.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Consequences of Poor Calibration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 Inaccuracy</a:t>
            </a:r>
          </a:p>
          <a:p>
            <a:pPr lvl="0"/>
            <a:r>
              <a:rPr/>
              <a:t>Misestimation of fish populations and distributions.</a:t>
            </a:r>
          </a:p>
          <a:p>
            <a:pPr lvl="0"/>
            <a:r>
              <a:rPr/>
              <a:t>Inconsistent results across different surveys.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Misguided Management Decisions</a:t>
            </a:r>
          </a:p>
          <a:p>
            <a:pPr lvl="0"/>
            <a:r>
              <a:rPr/>
              <a:t>Inaccurate data can lead to overfishing or under-protection of fish stocks.</a:t>
            </a:r>
          </a:p>
          <a:p>
            <a:pPr lvl="0"/>
            <a:r>
              <a:rPr/>
              <a:t>Impacts on conservation efforts and ecosystem health.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NASC and Gain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Understanding NASC (Nautical Area Scattering Coefficient)</a:t>
            </a:r>
          </a:p>
          <a:p>
            <a:pPr lvl="0"/>
            <a:r>
              <a:rPr/>
              <a:t>NASC represents the integrated backscatter from fish in a nautical square mile.</a:t>
            </a:r>
          </a:p>
          <a:p>
            <a:pPr lvl="0"/>
            <a:r>
              <a:rPr/>
              <a:t>Directly proportional to fish density and biomass.</a:t>
            </a:r>
          </a:p>
          <a:p>
            <a:pPr lvl="0"/>
            <a:r>
              <a:rPr/>
              <a:t>Formula: NASC = ∫ sv dA (integration of volume backscattering coefficient)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Gain and NASC Relationship</a:t>
            </a:r>
          </a:p>
          <a:p>
            <a:pPr lvl="0"/>
            <a:r>
              <a:rPr/>
              <a:t>Gain settings affect the received signal strength.</a:t>
            </a:r>
          </a:p>
          <a:p>
            <a:pPr lvl="0"/>
            <a:r>
              <a:rPr/>
              <a:t>Improper gain calibration leads to systematic bias in NASC values.</a:t>
            </a:r>
          </a:p>
          <a:p>
            <a:pPr lvl="0"/>
            <a:r>
              <a:rPr b="1"/>
              <a:t>Example</a:t>
            </a:r>
            <a:r>
              <a:rPr/>
              <a:t>: A 1 dB gain error can result in ~26% error in biomass estimates.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Case Study 1: Successful Calibration</a:t>
            </a:r>
          </a:p>
          <a:p>
            <a:pPr lvl="0"/>
            <a:r>
              <a:rPr/>
              <a:t>A fisheries survey that accurately estimated fish biomass due to proper calibration.</a:t>
            </a:r>
          </a:p>
          <a:p>
            <a:pPr lvl="0"/>
            <a:r>
              <a:rPr/>
              <a:t>Resulted in effective management strategies for sustainable fishing.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Case Study 2: Poor Calibration Consequences</a:t>
            </a:r>
          </a:p>
          <a:p>
            <a:pPr lvl="0"/>
            <a:r>
              <a:rPr/>
              <a:t>A survey that underestimated fish populations due to lack of calibration.</a:t>
            </a:r>
          </a:p>
          <a:p>
            <a:pPr lvl="0"/>
            <a:r>
              <a:rPr/>
              <a:t>Led to overfishing and subsequent population decline.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Summary</a:t>
            </a:r>
          </a:p>
          <a:p>
            <a:pPr lvl="0"/>
            <a:r>
              <a:rPr/>
              <a:t>Fisheries acoustics is a vital tool for monitoring aquatic ecosystems.</a:t>
            </a:r>
          </a:p>
          <a:p>
            <a:pPr lvl="0"/>
            <a:r>
              <a:rPr/>
              <a:t>Calibration is crucial for ensuring accurate and reliable data.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Future Directions</a:t>
            </a:r>
          </a:p>
          <a:p>
            <a:pPr lvl="0"/>
            <a:r>
              <a:rPr/>
              <a:t>Advancements in technology for improved acoustic measurements.</a:t>
            </a:r>
          </a:p>
          <a:p>
            <a:pPr lvl="0"/>
            <a:r>
              <a:rPr/>
              <a:t>Integration with other monitoring methods for comprehensive ecosystem assessments.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References and Publications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Essential Reading in Fisheries Acoustics</a:t>
            </a:r>
          </a:p>
          <a:p>
            <a:pPr lvl="0"/>
            <a:r>
              <a:rPr/>
              <a:t>Simmonds, J. &amp; MacLennan, D.N. (2005). </a:t>
            </a:r>
            <a:r>
              <a:rPr i="1"/>
              <a:t>Fisheries Acoustics: Theory and Practice</a:t>
            </a:r>
            <a:r>
              <a:rPr/>
              <a:t> (2nd ed.). Blackwell Science.</a:t>
            </a:r>
          </a:p>
          <a:p>
            <a:pPr lvl="0"/>
            <a:r>
              <a:rPr/>
              <a:t>Foote, K.G. (1987). Fish target strengths for use in echo integrator surveys. </a:t>
            </a:r>
            <a:r>
              <a:rPr i="1"/>
              <a:t>Journal of the Acoustical Society of America</a:t>
            </a:r>
            <a:r>
              <a:rPr/>
              <a:t>, 82(3), 981-987.</a:t>
            </a:r>
          </a:p>
          <a:p>
            <a:pPr lvl="0"/>
            <a:r>
              <a:rPr/>
              <a:t>Demer, D.A. et al. (2015). Calibration of acoustic instruments. </a:t>
            </a:r>
            <a:r>
              <a:rPr i="1"/>
              <a:t>ICES Cooperative Research Report No. 326</a:t>
            </a:r>
            <a:r>
              <a:rPr/>
              <a:t>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Thank You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Fisheries Acoustics and importance of calibration</dc:title>
  <dc:creator>Teresa Silva</dc:creator>
  <cp:keywords/>
  <dcterms:created xsi:type="dcterms:W3CDTF">2025-12-03T14:21:53Z</dcterms:created>
  <dcterms:modified xsi:type="dcterms:W3CDTF">2025-12-03T14:21:53Z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2025-12-03</vt:lpwstr>
  </property>
  <property fmtid="{D5CDD505-2E9C-101B-9397-08002B2CF9AE}" pid="6" name="editor">
    <vt:lpwstr>visual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